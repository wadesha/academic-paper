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Scalable Mixture of Experts Language Model for Large-Scale Settings</a:t>
            </a:r>
          </a:p>
        </p:txBody>
      </p:sp>
      <p:sp>
        <p:nvSpPr>
          <p:cNvPr id="3" name="Subtitle 2"/>
          <p:cNvSpPr>
            <a:spLocks noGrp="1"/>
          </p:cNvSpPr>
          <p:nvPr>
            <p:ph type="subTitle" idx="1"/>
          </p:nvPr>
        </p:nvSpPr>
        <p:spPr/>
        <p:txBody>
          <a:bodyPr/>
          <a:lstStyle/>
          <a:p>
            <a:r>
              <a:t>Computer Science — Artificial Intelligence &amp; Machine Learning</a:t>
            </a:r>
          </a:p>
          <a:p>
            <a:r>
              <a:t>References real (OpenAlex/arXiv); experiments illustrative.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sp>
        <p:nvSpPr>
          <p:cNvPr id="3" name="Content Placeholder 2"/>
          <p:cNvSpPr>
            <a:spLocks noGrp="1"/>
          </p:cNvSpPr>
          <p:nvPr>
            <p:ph idx="1"/>
          </p:nvPr>
        </p:nvSpPr>
        <p:spPr/>
        <p:txBody>
          <a:bodyPr/>
          <a:lstStyle/>
          <a:p>
            <a:pPr>
              <a:defRPr sz="1600"/>
            </a:pPr>
            <a:r>
              <a:t>Focus area: Mixture of Experts Language Model.</a:t>
            </a:r>
          </a:p>
          <a:p>
            <a:pPr>
              <a:defRPr sz="1600"/>
            </a:pPr>
            <a:r>
              <a:t>Targets a concrete gap from recent, real literature.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Related Work (real literature)</a:t>
            </a:r>
          </a:p>
        </p:txBody>
      </p:sp>
      <p:sp>
        <p:nvSpPr>
          <p:cNvPr id="3" name="Content Placeholder 2"/>
          <p:cNvSpPr>
            <a:spLocks noGrp="1"/>
          </p:cNvSpPr>
          <p:nvPr>
            <p:ph idx="1"/>
          </p:nvPr>
        </p:nvSpPr>
        <p:spPr/>
        <p:txBody>
          <a:bodyPr/>
          <a:lstStyle/>
          <a:p>
            <a:pPr>
              <a:defRPr sz="1600"/>
            </a:pPr>
            <a:r>
              <a:t>Venkatasubramanian (2018) — "The promise of artificial intelligence in chemical engineering: Is it here, finally?", AIChE Journal (cited 649).</a:t>
            </a:r>
          </a:p>
          <a:p>
            <a:pPr>
              <a:defRPr sz="1600"/>
            </a:pPr>
            <a:r>
              <a:t>P. (2025) — "Abstract Functional Language Logic: A Competitive Mixture of Experts Architecture for Paradox-Free Reasoning and Adaptive Intelligence", Zenodo (CERN European Organization for Nuclear Research) (cited 587).</a:t>
            </a:r>
          </a:p>
          <a:p>
            <a:pPr>
              <a:defRPr sz="1600"/>
            </a:pPr>
            <a:r>
              <a:t>Carmichael et al. (2017) — "Clinical Practice Guidelines for Enhanced Recovery After Colon and Rectal Surgery From the American Society of Colon and Rectal Surgeons and Society of American Gastrointestinal and Endoscopic Surgeons", Diseases of the Colon &amp; Rectum (cited 407).</a:t>
            </a:r>
          </a:p>
          <a:p>
            <a:pPr>
              <a:defRPr sz="1600"/>
            </a:pPr>
            <a:r>
              <a:t>Ford et al. (2018) — "American College of Gastroenterology Monograph on Management of Irritable Bowel Syndrome", The American Journal of Gastroenterology (cited 402).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a:t>
            </a:r>
          </a:p>
        </p:txBody>
      </p:sp>
      <p:sp>
        <p:nvSpPr>
          <p:cNvPr id="3" name="Content Placeholder 2"/>
          <p:cNvSpPr>
            <a:spLocks noGrp="1"/>
          </p:cNvSpPr>
          <p:nvPr>
            <p:ph idx="1"/>
          </p:nvPr>
        </p:nvSpPr>
        <p:spPr/>
        <p:txBody>
          <a:bodyPr/>
          <a:lstStyle/>
          <a:p>
            <a:pPr>
              <a:defRPr sz="1600"/>
            </a:pPr>
            <a:r>
              <a:t>We decompose the problem across shards with a communication-efficient aggregation rule that keeps overhead sublinear in scale.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(Illustrative)</a:t>
            </a:r>
          </a:p>
        </p:txBody>
      </p:sp>
      <p:sp>
        <p:nvSpPr>
          <p:cNvPr id="3" name="Content Placeholder 2"/>
          <p:cNvSpPr>
            <a:spLocks noGrp="1"/>
          </p:cNvSpPr>
          <p:nvPr>
            <p:ph idx="1"/>
          </p:nvPr>
        </p:nvSpPr>
        <p:spPr/>
        <p:txBody>
          <a:bodyPr/>
          <a:lstStyle/>
          <a:p>
            <a:pPr>
              <a:defRPr sz="1600"/>
            </a:pPr>
            <a:r>
              <a:t>Baseline metric 0.812 (1.00x)</a:t>
            </a:r>
          </a:p>
          <a:p>
            <a:pPr>
              <a:defRPr sz="1600"/>
            </a:pPr>
            <a:r>
              <a:t>Ours metric 0.851 (0.71x efficiency)</a:t>
            </a:r>
          </a:p>
          <a:p>
            <a:pPr>
              <a:defRPr sz="1600"/>
            </a:pPr>
            <a:r>
              <a:t>Metrics simulated to illustrate intent.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1600"/>
            </a:pPr>
            <a:r>
              <a:t>A real literature connected to a concrete method for Mixture of Experts Language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